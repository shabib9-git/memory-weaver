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C0C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6C4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37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0" i="0">
                <a:solidFill>
                  <a:srgbClr val="0C0C18"/>
                </a:solidFill>
              </a:rPr>
              <a:t>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9144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</a:rPr>
              <a:t>MemoryWeaver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88036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B0A8FF"/>
                </a:solidFill>
              </a:rPr>
              <a:t>AI-Powered Photo &amp; Voice Memory Journal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520440"/>
            <a:ext cx="3200400" cy="36576"/>
          </a:xfrm>
          <a:prstGeom prst="rect">
            <a:avLst/>
          </a:prstGeom>
          <a:solidFill>
            <a:srgbClr val="6C4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3749039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B6B8A"/>
                </a:solidFill>
              </a:rPr>
              <a:t>CS 651 Web Systems  ·  Spring 2026  ·  Group 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114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B6B8A"/>
                </a:solidFill>
              </a:rPr>
              <a:t>Sarmad Habib  ·  Anas Niaz  ·  Muhammad Sufiyan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0350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C47FF"/>
                </a:solidFill>
              </a:rPr>
              <a:t>memory-weaver-1009624055497.us-west1.run.app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6C4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C0C18"/>
                </a:solidFill>
              </a:rPr>
              <a:t>The Problem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6C4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6C4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6459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C0C18"/>
                </a:solidFill>
              </a:rPr>
              <a:t>The Problem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6C4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28016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600"/>
              </a:spcBef>
            </a:pPr>
            <a:r>
              <a:rPr sz="2000">
                <a:solidFill>
                  <a:srgbClr val="0C0C18"/>
                </a:solidFill>
              </a:rPr>
              <a:t>●  Hundreds of photos sit in Google Drive with no context or story</a:t>
            </a:r>
          </a:p>
          <a:p>
            <a:pPr>
              <a:spcBef>
                <a:spcPts val="1600"/>
              </a:spcBef>
            </a:pPr>
            <a:r>
              <a:rPr sz="2000">
                <a:solidFill>
                  <a:srgbClr val="0C0C18"/>
                </a:solidFill>
              </a:rPr>
              <a:t>●  Voice memos are forgotten with no searchable summary</a:t>
            </a:r>
          </a:p>
          <a:p>
            <a:pPr>
              <a:spcBef>
                <a:spcPts val="1600"/>
              </a:spcBef>
            </a:pPr>
            <a:r>
              <a:rPr sz="2000">
                <a:solidFill>
                  <a:srgbClr val="0C0C18"/>
                </a:solidFill>
              </a:rPr>
              <a:t>●  There's no easy way to connect a photo to the memory behind it</a:t>
            </a:r>
          </a:p>
          <a:p>
            <a:pPr>
              <a:spcBef>
                <a:spcPts val="1600"/>
              </a:spcBef>
            </a:pPr>
            <a:r>
              <a:rPr sz="2000">
                <a:solidFill>
                  <a:srgbClr val="0C0C18"/>
                </a:solidFill>
              </a:rPr>
              <a:t>●  Moments are captured but never truly revisited or understood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6C4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C0C18"/>
                </a:solidFill>
              </a:rPr>
              <a:t>Our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6B6B8A"/>
                </a:solidFill>
              </a:rPr>
              <a:t>MemoryWeaver — weaving photos and voice into memories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6C4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280160"/>
            <a:ext cx="2651760" cy="3474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46304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 i="0">
                <a:solidFill>
                  <a:srgbClr val="0C0C18"/>
                </a:solidFill>
              </a:rPr>
              <a:t>📷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0312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6C47FF"/>
                </a:solidFill>
              </a:rPr>
              <a:t>Sync Photos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606040"/>
            <a:ext cx="2377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B6B8A"/>
                </a:solidFill>
              </a:rPr>
              <a:t>Pull from Google Drive via OAuth 2.0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73552" y="1280160"/>
            <a:ext cx="2651760" cy="3474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10712" y="146304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 i="0">
                <a:solidFill>
                  <a:srgbClr val="0C0C18"/>
                </a:solidFill>
              </a:rPr>
              <a:t>🎙️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10712" y="210312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6C47FF"/>
                </a:solidFill>
              </a:rPr>
              <a:t>Voice Memos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10712" y="2606040"/>
            <a:ext cx="2377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B6B8A"/>
                </a:solidFill>
              </a:rPr>
              <a:t>Record in-browser with MediaRecorder API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89904" y="1280160"/>
            <a:ext cx="2651760" cy="3474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27064" y="146304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 i="0">
                <a:solidFill>
                  <a:srgbClr val="0C0C18"/>
                </a:solidFill>
              </a:rPr>
              <a:t>🤖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27064" y="210312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6C47FF"/>
                </a:solidFill>
              </a:rPr>
              <a:t>Gemini AI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27064" y="2606040"/>
            <a:ext cx="2377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B6B8A"/>
                </a:solidFill>
              </a:rPr>
              <a:t>Analyse photo (XXX) · Transcribe audio (YYY) · Combine (ZZZ)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906256" y="1280160"/>
            <a:ext cx="2651760" cy="3474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43416" y="146304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 i="0">
                <a:solidFill>
                  <a:srgbClr val="0C0C18"/>
                </a:solidFill>
              </a:rPr>
              <a:t>📖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43416" y="210312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6C47FF"/>
                </a:solidFill>
              </a:rPr>
              <a:t>Memory Journal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43416" y="2606040"/>
            <a:ext cx="2377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B6B8A"/>
                </a:solidFill>
              </a:rPr>
              <a:t>Search, filter, and relive every memory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6C4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C0C18"/>
                </a:solidFill>
              </a:rPr>
              <a:t>System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6C4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234440"/>
            <a:ext cx="1645920" cy="475488"/>
          </a:xfrm>
          <a:prstGeom prst="rect">
            <a:avLst/>
          </a:prstGeom>
          <a:solidFill>
            <a:srgbClr val="6C4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307592"/>
            <a:ext cx="15544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Layer</a:t>
            </a:r>
          </a:p>
        </p:txBody>
      </p:sp>
      <p:sp>
        <p:nvSpPr>
          <p:cNvPr id="8" name="Rectangle 7"/>
          <p:cNvSpPr/>
          <p:nvPr/>
        </p:nvSpPr>
        <p:spPr>
          <a:xfrm>
            <a:off x="2194560" y="1234440"/>
            <a:ext cx="3200400" cy="475488"/>
          </a:xfrm>
          <a:prstGeom prst="rect">
            <a:avLst/>
          </a:prstGeom>
          <a:solidFill>
            <a:srgbClr val="6C4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240280" y="1307592"/>
            <a:ext cx="3108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Technology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0" y="1234440"/>
            <a:ext cx="5943600" cy="475488"/>
          </a:xfrm>
          <a:prstGeom prst="rect">
            <a:avLst/>
          </a:prstGeom>
          <a:solidFill>
            <a:srgbClr val="6C4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32120" y="1307592"/>
            <a:ext cx="58521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Purpose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1709928"/>
            <a:ext cx="164592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1208" y="1764792"/>
            <a:ext cx="153619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C47FF"/>
                </a:solidFill>
              </a:rPr>
              <a:t>Frontend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194560" y="1709928"/>
            <a:ext cx="320040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258568" y="1764792"/>
            <a:ext cx="309067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C0C18"/>
                </a:solidFill>
              </a:rPr>
              <a:t>React 18 + Vite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0" y="1709928"/>
            <a:ext cx="594360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550408" y="1764792"/>
            <a:ext cx="583387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C0C18"/>
                </a:solidFill>
              </a:rPr>
              <a:t>Single Page Application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2185416"/>
            <a:ext cx="1645920" cy="475488"/>
          </a:xfrm>
          <a:prstGeom prst="rect">
            <a:avLst/>
          </a:prstGeom>
          <a:solidFill>
            <a:srgbClr val="F4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21208" y="2240280"/>
            <a:ext cx="153619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C47FF"/>
                </a:solidFill>
              </a:rPr>
              <a:t>Backend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194560" y="2185416"/>
            <a:ext cx="3200400" cy="475488"/>
          </a:xfrm>
          <a:prstGeom prst="rect">
            <a:avLst/>
          </a:prstGeom>
          <a:solidFill>
            <a:srgbClr val="F4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258568" y="2240280"/>
            <a:ext cx="309067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C0C18"/>
                </a:solidFill>
              </a:rPr>
              <a:t>Node.js 20 + Express 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0" y="2185416"/>
            <a:ext cx="5943600" cy="475488"/>
          </a:xfrm>
          <a:prstGeom prst="rect">
            <a:avLst/>
          </a:prstGeom>
          <a:solidFill>
            <a:srgbClr val="F4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550408" y="2240280"/>
            <a:ext cx="583387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C0C18"/>
                </a:solidFill>
              </a:rPr>
              <a:t>REST API server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2660904"/>
            <a:ext cx="164592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21208" y="2715768"/>
            <a:ext cx="153619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C47FF"/>
                </a:solidFill>
              </a:rPr>
              <a:t>AI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194560" y="2660904"/>
            <a:ext cx="320040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258568" y="2715768"/>
            <a:ext cx="309067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C0C18"/>
                </a:solidFill>
              </a:rPr>
              <a:t>Google Gemini 2.5 Flash Lite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0" y="2660904"/>
            <a:ext cx="594360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550408" y="2715768"/>
            <a:ext cx="583387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C0C18"/>
                </a:solidFill>
              </a:rPr>
              <a:t>Photo analysis · Audio transcription · Narrative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3136392"/>
            <a:ext cx="1645920" cy="475488"/>
          </a:xfrm>
          <a:prstGeom prst="rect">
            <a:avLst/>
          </a:prstGeom>
          <a:solidFill>
            <a:srgbClr val="F4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21208" y="3191256"/>
            <a:ext cx="153619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C47FF"/>
                </a:solidFill>
              </a:rPr>
              <a:t>Database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194560" y="3136392"/>
            <a:ext cx="3200400" cy="475488"/>
          </a:xfrm>
          <a:prstGeom prst="rect">
            <a:avLst/>
          </a:prstGeom>
          <a:solidFill>
            <a:srgbClr val="F4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258568" y="3191256"/>
            <a:ext cx="309067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C0C18"/>
                </a:solidFill>
              </a:rPr>
              <a:t>Google Cloud Firestore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6400" y="3136392"/>
            <a:ext cx="5943600" cy="475488"/>
          </a:xfrm>
          <a:prstGeom prst="rect">
            <a:avLst/>
          </a:prstGeom>
          <a:solidFill>
            <a:srgbClr val="F4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550408" y="3191256"/>
            <a:ext cx="583387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C0C18"/>
                </a:solidFill>
              </a:rPr>
              <a:t>3 collections, scoped by userId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" y="3611880"/>
            <a:ext cx="164592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21208" y="3666744"/>
            <a:ext cx="153619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C47FF"/>
                </a:solidFill>
              </a:rPr>
              <a:t>Storage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194560" y="3611880"/>
            <a:ext cx="320040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258568" y="3666744"/>
            <a:ext cx="309067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C0C18"/>
                </a:solidFill>
              </a:rPr>
              <a:t>Google Cloud Storage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486400" y="3611880"/>
            <a:ext cx="594360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550408" y="3666744"/>
            <a:ext cx="583387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C0C18"/>
                </a:solidFill>
              </a:rPr>
              <a:t>Private audio bucket, server-side proxy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" y="4087368"/>
            <a:ext cx="1645920" cy="475488"/>
          </a:xfrm>
          <a:prstGeom prst="rect">
            <a:avLst/>
          </a:prstGeom>
          <a:solidFill>
            <a:srgbClr val="F4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21208" y="4142232"/>
            <a:ext cx="153619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C47FF"/>
                </a:solidFill>
              </a:rPr>
              <a:t>Photos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194560" y="4087368"/>
            <a:ext cx="3200400" cy="475488"/>
          </a:xfrm>
          <a:prstGeom prst="rect">
            <a:avLst/>
          </a:prstGeom>
          <a:solidFill>
            <a:srgbClr val="F4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258568" y="4142232"/>
            <a:ext cx="309067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C0C18"/>
                </a:solidFill>
              </a:rPr>
              <a:t>Google Drive API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486400" y="4087368"/>
            <a:ext cx="5943600" cy="475488"/>
          </a:xfrm>
          <a:prstGeom prst="rect">
            <a:avLst/>
          </a:prstGeom>
          <a:solidFill>
            <a:srgbClr val="F4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550408" y="4142232"/>
            <a:ext cx="583387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C0C18"/>
                </a:solidFill>
              </a:rPr>
              <a:t>Social Network X integration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57200" y="4562856"/>
            <a:ext cx="164592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21208" y="4617720"/>
            <a:ext cx="153619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C47FF"/>
                </a:solidFill>
              </a:rPr>
              <a:t>Auth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194560" y="4562856"/>
            <a:ext cx="320040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258568" y="4617720"/>
            <a:ext cx="309067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C0C18"/>
                </a:solidFill>
              </a:rPr>
              <a:t>Google OAuth 2.0 + express-session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486400" y="4562856"/>
            <a:ext cx="594360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550408" y="4617720"/>
            <a:ext cx="583387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C0C18"/>
                </a:solidFill>
              </a:rPr>
              <a:t>Secure server-side sessions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57200" y="5038344"/>
            <a:ext cx="1645920" cy="475488"/>
          </a:xfrm>
          <a:prstGeom prst="rect">
            <a:avLst/>
          </a:prstGeom>
          <a:solidFill>
            <a:srgbClr val="F4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21208" y="5093208"/>
            <a:ext cx="153619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C47FF"/>
                </a:solidFill>
              </a:rPr>
              <a:t>Deployment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194560" y="5038344"/>
            <a:ext cx="3200400" cy="475488"/>
          </a:xfrm>
          <a:prstGeom prst="rect">
            <a:avLst/>
          </a:prstGeom>
          <a:solidFill>
            <a:srgbClr val="F4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258568" y="5093208"/>
            <a:ext cx="309067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C0C18"/>
                </a:solidFill>
              </a:rPr>
              <a:t>Google Cloud Run · Docker · Cloud Build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486400" y="5038344"/>
            <a:ext cx="5943600" cy="475488"/>
          </a:xfrm>
          <a:prstGeom prst="rect">
            <a:avLst/>
          </a:prstGeom>
          <a:solidFill>
            <a:srgbClr val="F4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550408" y="5093208"/>
            <a:ext cx="583387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C0C18"/>
                </a:solidFill>
              </a:rPr>
              <a:t>Containerised, serverless PaaS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6C4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C0C18"/>
                </a:solidFill>
              </a:rPr>
              <a:t>The AI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6B6B8A"/>
                </a:solidFill>
              </a:rPr>
              <a:t>Photo + Voice → Gemini → Memory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6C4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234440"/>
            <a:ext cx="3291840" cy="4754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1371600"/>
            <a:ext cx="685800" cy="347472"/>
          </a:xfrm>
          <a:prstGeom prst="rect">
            <a:avLst/>
          </a:prstGeom>
          <a:solidFill>
            <a:srgbClr val="6C4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389888"/>
            <a:ext cx="685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XXX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82880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C0C18"/>
                </a:solidFill>
              </a:rPr>
              <a:t>📷 Photo Analysis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331720"/>
            <a:ext cx="30175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B6B8A"/>
                </a:solidFill>
              </a:rPr>
              <a:t>Gemini receives the image inline
→ Description
→ Mood
→ Location
→ Key Elements
→ Memory Title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94760" y="3246120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6C47FF"/>
                </a:solidFill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60520" y="1234440"/>
            <a:ext cx="3291840" cy="4754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97680" y="1371600"/>
            <a:ext cx="685800" cy="347472"/>
          </a:xfrm>
          <a:prstGeom prst="rect">
            <a:avLst/>
          </a:prstGeom>
          <a:solidFill>
            <a:srgbClr val="6C4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97680" y="1389888"/>
            <a:ext cx="685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YYY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97680" y="182880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C0C18"/>
                </a:solidFill>
              </a:rPr>
              <a:t>🎙️ Audio Transcription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97680" y="2331720"/>
            <a:ext cx="30175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B6B8A"/>
                </a:solidFill>
              </a:rPr>
              <a:t>Gemini receives the voice recording
→ Transcription
→ Summary
→ Keywords
→ Sentiment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80" y="3246120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6C47FF"/>
                </a:solidFill>
              </a:rP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863840" y="1234440"/>
            <a:ext cx="3291840" cy="4754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01000" y="1371600"/>
            <a:ext cx="685800" cy="347472"/>
          </a:xfrm>
          <a:prstGeom prst="rect">
            <a:avLst/>
          </a:prstGeom>
          <a:solidFill>
            <a:srgbClr val="6C4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01000" y="1389888"/>
            <a:ext cx="685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ZZZ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01000" y="182880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C0C18"/>
                </a:solidFill>
              </a:rPr>
              <a:t>✨ Combined Narrative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01000" y="2331720"/>
            <a:ext cx="30175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B6B8A"/>
                </a:solidFill>
              </a:rPr>
              <a:t>Gemini fuses XXX + YYY
→ Rich prose memory paragraph
→ Stored in Firestore
→ User-editable inline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6C4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C0C18"/>
                </a:solidFill>
              </a:rPr>
              <a:t>Social Network Integration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6B6B8A"/>
                </a:solidFill>
              </a:rPr>
              <a:t>Google Drive as Social Network X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6C4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280160"/>
            <a:ext cx="2286000" cy="594360"/>
          </a:xfrm>
          <a:prstGeom prst="rect">
            <a:avLst/>
          </a:prstGeom>
          <a:solidFill>
            <a:srgbClr val="6C4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37160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OAuth 2.0 Sign-in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0" y="1353312"/>
            <a:ext cx="8686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C0C18"/>
                </a:solidFill>
              </a:rPr>
              <a:t>User grants Drive + profile scopes via Google consent screen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194560"/>
            <a:ext cx="2286000" cy="594360"/>
          </a:xfrm>
          <a:prstGeom prst="rect">
            <a:avLst/>
          </a:prstGeom>
          <a:solidFill>
            <a:srgbClr val="6C4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228600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Drive API Fetch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0" y="2267712"/>
            <a:ext cx="8686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C0C18"/>
                </a:solidFill>
              </a:rPr>
              <a:t>Server fetches user's image files using their OAuth access token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108960"/>
            <a:ext cx="2286000" cy="594360"/>
          </a:xfrm>
          <a:prstGeom prst="rect">
            <a:avLst/>
          </a:prstGeom>
          <a:solidFill>
            <a:srgbClr val="6C4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320040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Server-side Proxy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3182112"/>
            <a:ext cx="8686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C0C18"/>
                </a:solidFill>
              </a:rPr>
              <a:t>/api/photos/drive/:fileId — authenticates and streams Drive images to the browser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023360"/>
            <a:ext cx="2286000" cy="594360"/>
          </a:xfrm>
          <a:prstGeom prst="rect">
            <a:avLst/>
          </a:prstGeom>
          <a:solidFill>
            <a:srgbClr val="6C4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411480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Processed Tracking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26080" y="4096512"/>
            <a:ext cx="8686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C0C18"/>
                </a:solidFill>
              </a:rPr>
              <a:t>Firestore stores which Drive file IDs have been analysed — shown as ✓ Analysed in the gallery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4937760"/>
            <a:ext cx="2286000" cy="594360"/>
          </a:xfrm>
          <a:prstGeom prst="rect">
            <a:avLst/>
          </a:prstGeom>
          <a:solidFill>
            <a:srgbClr val="6C4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502920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Local Upload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26080" y="5010912"/>
            <a:ext cx="8686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C0C18"/>
                </a:solidFill>
              </a:rPr>
              <a:t>Users can also upload local photos directly if not using Drive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6C4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C0C18"/>
                </a:solidFill>
              </a:rPr>
              <a:t>Database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6B6B8A"/>
                </a:solidFill>
              </a:rPr>
              <a:t>Google Cloud Firestore — 3 collections, all scoped to userId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6C4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234440"/>
            <a:ext cx="3383280" cy="4389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234440"/>
            <a:ext cx="3383280" cy="822960"/>
          </a:xfrm>
          <a:prstGeom prst="rect">
            <a:avLst/>
          </a:prstGeom>
          <a:solidFill>
            <a:srgbClr val="6C4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1289304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📷  photoResults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16916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0B8FF"/>
                </a:solidFill>
              </a:rPr>
              <a:t>XXX Photo Analysis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194560"/>
            <a:ext cx="30632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B6B8A"/>
                </a:solidFill>
              </a:rPr>
              <a:t>userId
photoUrl
driveFileId
source
outputXXX
urlHash
createdAt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60520" y="1234440"/>
            <a:ext cx="3383280" cy="4389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160520" y="1234440"/>
            <a:ext cx="3383280" cy="822960"/>
          </a:xfrm>
          <a:prstGeom prst="rect">
            <a:avLst/>
          </a:prstGeom>
          <a:solidFill>
            <a:srgbClr val="6C4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70248" y="1289304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🎙️  audioResults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70248" y="16916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0B8FF"/>
                </a:solidFill>
              </a:rPr>
              <a:t>YYY Audio Transcription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43400" y="2194560"/>
            <a:ext cx="30632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B6B8A"/>
                </a:solidFill>
              </a:rPr>
              <a:t>userId
audioUrl
outputYYY
createdAt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863840" y="1234440"/>
            <a:ext cx="3383280" cy="4389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863840" y="1234440"/>
            <a:ext cx="3383280" cy="822960"/>
          </a:xfrm>
          <a:prstGeom prst="rect">
            <a:avLst/>
          </a:prstGeom>
          <a:solidFill>
            <a:srgbClr val="6C4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73568" y="1289304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✨  combinedResults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73568" y="16916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0B8FF"/>
                </a:solidFill>
              </a:rPr>
              <a:t>ZZZ Combined Narrative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20" y="2194560"/>
            <a:ext cx="30632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B6B8A"/>
                </a:solidFill>
              </a:rPr>
              <a:t>userId
photoUrl
audioUrl
outputXXX
outputYYY
outputZZZ
createdAt
updatedAt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5760720"/>
            <a:ext cx="3383280" cy="5029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5797296"/>
            <a:ext cx="1005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CREATE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007608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Save after Gemini call · SHA-256 deduplication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60520" y="5760720"/>
            <a:ext cx="3383280" cy="5029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51960" y="5797296"/>
            <a:ext cx="1005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READ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51960" y="6007608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Journal timeline · scoped to userId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863840" y="5760720"/>
            <a:ext cx="3383280" cy="5029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955280" y="5797296"/>
            <a:ext cx="1005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UPDATE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955280" y="6007608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Edit ZZZ narrative inline · ownership verified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1567160" y="5760720"/>
            <a:ext cx="3383280" cy="5029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658600" y="5797296"/>
            <a:ext cx="1005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DELETE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658600" y="6007608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Any entry · userId ownership check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6C4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C0C18"/>
                </a:solidFill>
              </a:rPr>
              <a:t>Security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6C4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234440"/>
            <a:ext cx="1115568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2588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6C47FF"/>
                </a:solidFill>
              </a:rPr>
              <a:t>🔐  Google OAuth 2.0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1344168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C0C18"/>
                </a:solidFill>
              </a:rPr>
              <a:t>Encrypted server-side sessions via express-session + secure cookies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011680"/>
            <a:ext cx="11155680" cy="658368"/>
          </a:xfrm>
          <a:prstGeom prst="rect">
            <a:avLst/>
          </a:prstGeom>
          <a:solidFill>
            <a:srgbClr val="F4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210312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6C47FF"/>
                </a:solidFill>
              </a:rPr>
              <a:t>🛡️  requireAuth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2121408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C0C18"/>
                </a:solidFill>
              </a:rPr>
              <a:t>Middleware on every protected route — proactively refreshes expired tokens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788920"/>
            <a:ext cx="1115568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288036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6C47FF"/>
                </a:solidFill>
              </a:rPr>
              <a:t>👤  userId isolation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0" y="2898648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C0C18"/>
                </a:solidFill>
              </a:rPr>
              <a:t>Every Firestore document stores userId; all queries filtered by it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566160"/>
            <a:ext cx="11155680" cy="658368"/>
          </a:xfrm>
          <a:prstGeom prst="rect">
            <a:avLst/>
          </a:prstGeom>
          <a:solidFill>
            <a:srgbClr val="F4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365760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6C47FF"/>
                </a:solidFill>
              </a:rPr>
              <a:t>✋  Ownership checks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6160" y="3675888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C0C18"/>
                </a:solidFill>
              </a:rPr>
              <a:t>Update and delete verify doc.userId === req.user.sub before mutating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4343400"/>
            <a:ext cx="1115568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443484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6C47FF"/>
                </a:solidFill>
              </a:rPr>
              <a:t>🪖  Helmet + CORS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0" y="4453128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C0C18"/>
                </a:solidFill>
              </a:rPr>
              <a:t>HTTP security headers, CORS policy, and trust proxy for Cloud Run HTTPS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5120640"/>
            <a:ext cx="11155680" cy="658368"/>
          </a:xfrm>
          <a:prstGeom prst="rect">
            <a:avLst/>
          </a:prstGeom>
          <a:solidFill>
            <a:srgbClr val="F4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521208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6C47FF"/>
                </a:solidFill>
              </a:rPr>
              <a:t>🔒  Private audio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66160" y="5230368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C0C18"/>
                </a:solidFill>
              </a:rPr>
              <a:t>GCS uniform bucket — no public object URLs; audio streamed via server proxy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6C4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C0C18"/>
                </a:solidFill>
              </a:rPr>
              <a:t>Deployment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6B6B8A"/>
                </a:solidFill>
              </a:rPr>
              <a:t>Google Cloud Run via Docker + Cloud Build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6C4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2651760" cy="3840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1481328"/>
            <a:ext cx="502920" cy="502920"/>
          </a:xfrm>
          <a:prstGeom prst="rect">
            <a:avLst/>
          </a:prstGeom>
          <a:solidFill>
            <a:srgbClr val="6C4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1490472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2084832"/>
            <a:ext cx="24323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C0C18"/>
                </a:solidFill>
              </a:rPr>
              <a:t>Docker Build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2560320"/>
            <a:ext cx="2432304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B6B8A"/>
                </a:solidFill>
              </a:rPr>
              <a:t>Multi-stage Dockerfile
Stage 1: vite build (React SPA)
Stage 2: Express serves built files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37560" y="1371600"/>
            <a:ext cx="2651760" cy="3840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47288" y="1481328"/>
            <a:ext cx="502920" cy="502920"/>
          </a:xfrm>
          <a:prstGeom prst="rect">
            <a:avLst/>
          </a:prstGeom>
          <a:solidFill>
            <a:srgbClr val="6C4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47288" y="1490472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47288" y="2084832"/>
            <a:ext cx="24323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C0C18"/>
                </a:solidFill>
              </a:rPr>
              <a:t>Cloud Build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47288" y="2560320"/>
            <a:ext cx="2432304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B6B8A"/>
                </a:solidFill>
              </a:rPr>
              <a:t>Source pushed to Cloud Build
Installs deps, runs stages
Produces container image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1371600"/>
            <a:ext cx="2651760" cy="3840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27648" y="1481328"/>
            <a:ext cx="502920" cy="502920"/>
          </a:xfrm>
          <a:prstGeom prst="rect">
            <a:avLst/>
          </a:prstGeom>
          <a:solidFill>
            <a:srgbClr val="6C4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27648" y="1490472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27648" y="2084832"/>
            <a:ext cx="24323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C0C18"/>
                </a:solidFill>
              </a:rPr>
              <a:t>Artifact Registry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27648" y="2560320"/>
            <a:ext cx="2432304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B6B8A"/>
                </a:solidFill>
              </a:rPr>
              <a:t>Container image stored in
Google Artifact Registry
(us-west1)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098280" y="1371600"/>
            <a:ext cx="2651760" cy="3840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208008" y="1481328"/>
            <a:ext cx="502920" cy="502920"/>
          </a:xfrm>
          <a:prstGeom prst="rect">
            <a:avLst/>
          </a:prstGeom>
          <a:solidFill>
            <a:srgbClr val="6C4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08008" y="1490472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08008" y="2084832"/>
            <a:ext cx="24323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C0C18"/>
                </a:solidFill>
              </a:rPr>
              <a:t>Cloud Run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08008" y="2560320"/>
            <a:ext cx="2432304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B6B8A"/>
                </a:solidFill>
              </a:rPr>
              <a:t>Container deployed as
serverless service
Auto-scales to zero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5394960"/>
            <a:ext cx="11155680" cy="640080"/>
          </a:xfrm>
          <a:prstGeom prst="rect">
            <a:avLst/>
          </a:prstGeom>
          <a:solidFill>
            <a:srgbClr val="6C4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544068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🚀  Live:  memory-weaver-1009624055497.us-west1.run.app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6C4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C0C18"/>
                </a:solidFill>
              </a:rPr>
              <a:t>Analytics &amp; Logging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6C4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234440"/>
            <a:ext cx="5394960" cy="4937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234440"/>
            <a:ext cx="5394960" cy="502920"/>
          </a:xfrm>
          <a:prstGeom prst="rect">
            <a:avLst/>
          </a:prstGeom>
          <a:solidFill>
            <a:srgbClr val="6C4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261872"/>
            <a:ext cx="5120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📊  Google Analytics 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874519"/>
            <a:ext cx="51206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300">
                <a:solidFill>
                  <a:srgbClr val="0C0C18"/>
                </a:solidFill>
              </a:rPr>
              <a:t>•  page_view — every client-side route change</a:t>
            </a:r>
          </a:p>
          <a:p>
            <a:pPr>
              <a:spcBef>
                <a:spcPts val="800"/>
              </a:spcBef>
            </a:pPr>
            <a:r>
              <a:rPr sz="1300">
                <a:solidFill>
                  <a:srgbClr val="0C0C18"/>
                </a:solidFill>
              </a:rPr>
              <a:t>•  login — once per browser session</a:t>
            </a:r>
          </a:p>
          <a:p>
            <a:pPr>
              <a:spcBef>
                <a:spcPts val="800"/>
              </a:spcBef>
            </a:pPr>
            <a:r>
              <a:rPr sz="1300">
                <a:solidFill>
                  <a:srgbClr val="0C0C18"/>
                </a:solidFill>
              </a:rPr>
              <a:t>•  photo_analysed — Gemini XXX completes</a:t>
            </a:r>
          </a:p>
          <a:p>
            <a:pPr>
              <a:spcBef>
                <a:spcPts val="800"/>
              </a:spcBef>
            </a:pPr>
            <a:r>
              <a:rPr sz="1300">
                <a:solidFill>
                  <a:srgbClr val="0C0C18"/>
                </a:solidFill>
              </a:rPr>
              <a:t>•  audio_record_start — user clicks Record</a:t>
            </a:r>
          </a:p>
          <a:p>
            <a:pPr>
              <a:spcBef>
                <a:spcPts val="800"/>
              </a:spcBef>
            </a:pPr>
            <a:r>
              <a:rPr sz="1300">
                <a:solidFill>
                  <a:srgbClr val="0C0C18"/>
                </a:solidFill>
              </a:rPr>
              <a:t>•  audio_processed — Gemini YYY completes</a:t>
            </a:r>
          </a:p>
          <a:p>
            <a:pPr>
              <a:spcBef>
                <a:spcPts val="800"/>
              </a:spcBef>
            </a:pPr>
            <a:r>
              <a:rPr sz="1300">
                <a:solidFill>
                  <a:srgbClr val="0C0C18"/>
                </a:solidFill>
              </a:rPr>
              <a:t>•  narrative_generated — ZZZ created</a:t>
            </a:r>
          </a:p>
          <a:p>
            <a:pPr>
              <a:spcBef>
                <a:spcPts val="800"/>
              </a:spcBef>
            </a:pPr>
            <a:r>
              <a:rPr sz="1300">
                <a:solidFill>
                  <a:srgbClr val="0C0C18"/>
                </a:solidFill>
              </a:rPr>
              <a:t>•  journal_viewed — journal page opened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35040" y="1234440"/>
            <a:ext cx="5669280" cy="4937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035040" y="1234440"/>
            <a:ext cx="5669280" cy="5029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72200" y="1261872"/>
            <a:ext cx="53949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📋  Google Cloud Logging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72200" y="1874519"/>
            <a:ext cx="53949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300">
                <a:solidFill>
                  <a:srgbClr val="0C0C18"/>
                </a:solidFill>
              </a:rPr>
              <a:t>•  OAuth_Callback</a:t>
            </a:r>
          </a:p>
          <a:p>
            <a:pPr>
              <a:spcBef>
                <a:spcPts val="800"/>
              </a:spcBef>
            </a:pPr>
            <a:r>
              <a:rPr sz="1300">
                <a:solidFill>
                  <a:srgbClr val="0C0C18"/>
                </a:solidFill>
              </a:rPr>
              <a:t>•  Gemini_Photo / Gemini_Audio / Gemini_Combine</a:t>
            </a:r>
          </a:p>
          <a:p>
            <a:pPr>
              <a:spcBef>
                <a:spcPts val="800"/>
              </a:spcBef>
            </a:pPr>
            <a:r>
              <a:rPr sz="1300">
                <a:solidFill>
                  <a:srgbClr val="0C0C18"/>
                </a:solidFill>
              </a:rPr>
              <a:t>•  Firestore_Write / Read / Update / Delete</a:t>
            </a:r>
          </a:p>
          <a:p>
            <a:pPr>
              <a:spcBef>
                <a:spcPts val="800"/>
              </a:spcBef>
            </a:pPr>
            <a:r>
              <a:rPr sz="1300">
                <a:solidFill>
                  <a:srgbClr val="0C0C18"/>
                </a:solidFill>
              </a:rPr>
              <a:t>•  CloudStorage_Upload</a:t>
            </a:r>
          </a:p>
          <a:p>
            <a:pPr>
              <a:spcBef>
                <a:spcPts val="800"/>
              </a:spcBef>
            </a:pPr>
            <a:r>
              <a:rPr sz="1300">
                <a:solidFill>
                  <a:srgbClr val="0C0C18"/>
                </a:solidFill>
              </a:rPr>
              <a:t>•  DriveAPI_Fetch</a:t>
            </a:r>
          </a:p>
          <a:p>
            <a:pPr>
              <a:spcBef>
                <a:spcPts val="800"/>
              </a:spcBef>
            </a:pPr>
            <a:r>
              <a:rPr sz="1300">
                <a:solidFill>
                  <a:srgbClr val="0C0C18"/>
                </a:solidFill>
              </a:rPr>
              <a:t>•  Token_Refresh</a:t>
            </a:r>
          </a:p>
          <a:p>
            <a:pPr>
              <a:spcBef>
                <a:spcPts val="800"/>
              </a:spcBef>
            </a:pPr>
            <a:r>
              <a:rPr sz="1300">
                <a:solidFill>
                  <a:srgbClr val="0C0C18"/>
                </a:solidFill>
              </a:rPr>
              <a:t>•  Auth_Required (blocked request)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C0C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6C4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</a:rPr>
              <a:t>Live Demonstration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4688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6C47FF"/>
                </a:solidFill>
              </a:rPr>
              <a:t>memory-weaver-1009624055497.us-west1.run.app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3474720"/>
            <a:ext cx="1691640" cy="594360"/>
          </a:xfrm>
          <a:prstGeom prst="rect">
            <a:avLst/>
          </a:prstGeom>
          <a:solidFill>
            <a:srgbClr val="6C4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3566160"/>
            <a:ext cx="1600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Login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50008" y="3566160"/>
            <a:ext cx="20116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6B6B8A"/>
                </a:solidFill>
              </a:rPr>
              <a:t>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2532888" y="3474720"/>
            <a:ext cx="1691640" cy="594360"/>
          </a:xfrm>
          <a:prstGeom prst="rect">
            <a:avLst/>
          </a:prstGeom>
          <a:solidFill>
            <a:srgbClr val="6C4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578608" y="3566160"/>
            <a:ext cx="1600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Gallery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42816" y="3566160"/>
            <a:ext cx="20116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6B6B8A"/>
                </a:solidFill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25696" y="3474720"/>
            <a:ext cx="1691640" cy="594360"/>
          </a:xfrm>
          <a:prstGeom prst="rect">
            <a:avLst/>
          </a:prstGeom>
          <a:solidFill>
            <a:srgbClr val="6C4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71416" y="3566160"/>
            <a:ext cx="1600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Analyse Photo (XXX)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35624" y="3566160"/>
            <a:ext cx="20116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6B6B8A"/>
                </a:solidFill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18504" y="3474720"/>
            <a:ext cx="1691640" cy="594360"/>
          </a:xfrm>
          <a:prstGeom prst="rect">
            <a:avLst/>
          </a:prstGeom>
          <a:solidFill>
            <a:srgbClr val="6C4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64224" y="3566160"/>
            <a:ext cx="1600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Voice Recording (YYY)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28432" y="3566160"/>
            <a:ext cx="20116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6B6B8A"/>
                </a:solidFill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11312" y="3474720"/>
            <a:ext cx="1691640" cy="594360"/>
          </a:xfrm>
          <a:prstGeom prst="rect">
            <a:avLst/>
          </a:prstGeom>
          <a:solidFill>
            <a:srgbClr val="6C4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57032" y="3566160"/>
            <a:ext cx="1600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Combine (ZZZ)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921240" y="3566160"/>
            <a:ext cx="20116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6B6B8A"/>
                </a:solidFill>
              </a:rP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104120" y="3474720"/>
            <a:ext cx="1691640" cy="594360"/>
          </a:xfrm>
          <a:prstGeom prst="rect">
            <a:avLst/>
          </a:prstGeom>
          <a:solidFill>
            <a:srgbClr val="6C4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149840" y="3566160"/>
            <a:ext cx="1600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Journal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6C4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6C4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C0C18"/>
                </a:solidFill>
              </a:rPr>
              <a:t>What We Learned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6C4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2560320" cy="685800"/>
          </a:xfrm>
          <a:prstGeom prst="rect">
            <a:avLst/>
          </a:prstGeom>
          <a:solidFill>
            <a:srgbClr val="6C4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399032"/>
            <a:ext cx="2423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Google Drive proxy</a:t>
            </a:r>
          </a:p>
        </p:txBody>
      </p:sp>
      <p:sp>
        <p:nvSpPr>
          <p:cNvPr id="8" name="Rectangle 7"/>
          <p:cNvSpPr/>
          <p:nvPr/>
        </p:nvSpPr>
        <p:spPr>
          <a:xfrm>
            <a:off x="3154680" y="1280160"/>
            <a:ext cx="850392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91840" y="1399032"/>
            <a:ext cx="8321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C0C18"/>
                </a:solidFill>
              </a:rPr>
              <a:t>Drive images require server-side authentication — browser cannot fetch them directly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212848"/>
            <a:ext cx="2560320" cy="685800"/>
          </a:xfrm>
          <a:prstGeom prst="rect">
            <a:avLst/>
          </a:prstGeom>
          <a:solidFill>
            <a:srgbClr val="6C4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331720"/>
            <a:ext cx="2423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Cloud Run sessions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154680" y="2212848"/>
            <a:ext cx="850392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91840" y="2331720"/>
            <a:ext cx="8321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C0C18"/>
                </a:solidFill>
              </a:rPr>
              <a:t>trust proxy: 1 is required for secure cookies behind GCP's HTTPS load balancer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145536"/>
            <a:ext cx="2560320" cy="685800"/>
          </a:xfrm>
          <a:prstGeom prst="rect">
            <a:avLst/>
          </a:prstGeom>
          <a:solidFill>
            <a:srgbClr val="6C4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3264408"/>
            <a:ext cx="2423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GCS uniform access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154680" y="3145536"/>
            <a:ext cx="850392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91840" y="3264408"/>
            <a:ext cx="8321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C0C18"/>
                </a:solidFill>
              </a:rPr>
              <a:t>Uniform bucket-level access blocks makePublic() — audio must be streamed via backend proxy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4078224"/>
            <a:ext cx="2560320" cy="685800"/>
          </a:xfrm>
          <a:prstGeom prst="rect">
            <a:avLst/>
          </a:prstGeom>
          <a:solidFill>
            <a:srgbClr val="6C4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4197096"/>
            <a:ext cx="2423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Gemini prompts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154680" y="4078224"/>
            <a:ext cx="850392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91840" y="4197096"/>
            <a:ext cx="8321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C0C18"/>
                </a:solidFill>
              </a:rPr>
              <a:t>Structured prompt design is critical — labelled fields (MOOD:, LOCATION:) enable reliable parsing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5010912"/>
            <a:ext cx="2560320" cy="685800"/>
          </a:xfrm>
          <a:prstGeom prst="rect">
            <a:avLst/>
          </a:prstGeom>
          <a:solidFill>
            <a:srgbClr val="6C4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5129784"/>
            <a:ext cx="2423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Token refresh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154680" y="5010912"/>
            <a:ext cx="850392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291840" y="5129784"/>
            <a:ext cx="8321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C0C18"/>
                </a:solidFill>
              </a:rPr>
              <a:t>OAuth access tokens expire in 1 hour — middleware must silently refresh before each request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C0C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6C4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0" i="0">
                <a:solidFill>
                  <a:srgbClr val="0C0C18"/>
                </a:solidFill>
              </a:rPr>
              <a:t>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830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</a:rP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7432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1">
                <a:solidFill>
                  <a:srgbClr val="B0A8FF"/>
                </a:solidFill>
              </a:rPr>
              <a:t>Your memories, woven together by AI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3383280"/>
            <a:ext cx="2743200" cy="36576"/>
          </a:xfrm>
          <a:prstGeom prst="rect">
            <a:avLst/>
          </a:prstGeom>
          <a:solidFill>
            <a:srgbClr val="6C4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36576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B6B8A"/>
                </a:solidFill>
              </a:rPr>
              <a:t>GitHub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977639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github.com/shabib9-git/memory-weaver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4805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B6B8A"/>
                </a:solidFill>
              </a:rPr>
              <a:t>Live App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8006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memory-weaver-1009624055497.us-west1.run.app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7607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B6B8A"/>
                </a:solidFill>
              </a:rPr>
              <a:t>Group 4  ·  Sarmad Habib  ·  Anas Niaz  ·  Muhammad Sufiyan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6C4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